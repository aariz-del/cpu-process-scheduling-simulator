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5EEAD4"/>
                </a:solidFill>
                <a:latin typeface="Aptos"/>
              </a:defRPr>
            </a:pPr>
            <a:r>
              <a:t>APSH 2026  |  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0584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ptos"/>
              </a:defRPr>
            </a:pPr>
            <a:r>
              <a:t>CPU Scheduling</a:t>
            </a:r>
          </a:p>
          <a:p>
            <a:pPr>
              <a:defRPr sz="3600" b="1">
                <a:solidFill>
                  <a:srgbClr val="FFFFFF"/>
                </a:solidFill>
                <a:latin typeface="Aptos"/>
              </a:defRPr>
            </a:pPr>
            <a:r>
              <a:t>Simulator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24612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CBD5E1"/>
                </a:solidFill>
                <a:latin typeface="Aptos"/>
              </a:defRPr>
            </a:pPr>
            <a:r>
              <a:t>Visualising greedy CPU scheduling policies with a binary min-heap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4709160"/>
            <a:ext cx="4114800" cy="82296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4910328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ptos"/>
              </a:defRPr>
            </a:pPr>
            <a:r>
              <a:t>Department of Computer Science and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989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94A3B8"/>
                </a:solidFill>
                <a:latin typeface="Aptos"/>
              </a:defRPr>
            </a:pPr>
            <a:r>
              <a:t>Team / members / faculty mentor: to be filled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1051560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1430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CBD5E1"/>
                </a:solidFill>
                <a:latin typeface="Aptos"/>
              </a:defRPr>
            </a:pPr>
            <a:r>
              <a:t>What the simulator does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3474720" cy="19202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901952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5EEAD4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450591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FFFFF"/>
                </a:solidFill>
                <a:latin typeface="Aptos"/>
              </a:defRPr>
            </a:pPr>
            <a:r>
              <a:t>Process ID</a:t>
            </a:r>
          </a:p>
          <a:p>
            <a:pPr>
              <a:defRPr sz="1300" b="0">
                <a:solidFill>
                  <a:srgbClr val="FFFFFF"/>
                </a:solidFill>
                <a:latin typeface="Aptos"/>
              </a:defRPr>
            </a:pPr>
            <a:r>
              <a:t>Arrival time</a:t>
            </a:r>
          </a:p>
          <a:p>
            <a:pPr>
              <a:defRPr sz="1300" b="0">
                <a:solidFill>
                  <a:srgbClr val="FFFFFF"/>
                </a:solidFill>
                <a:latin typeface="Aptos"/>
              </a:defRPr>
            </a:pPr>
            <a:r>
              <a:t>Burst time</a:t>
            </a:r>
          </a:p>
          <a:p>
            <a:pPr>
              <a:defRPr sz="1300" b="0">
                <a:solidFill>
                  <a:srgbClr val="FFFFFF"/>
                </a:solidFill>
                <a:latin typeface="Aptos"/>
              </a:defRPr>
            </a:pPr>
            <a:r>
              <a:t>Priority number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737360"/>
            <a:ext cx="3474720" cy="19202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44568" y="1901952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5EEAD4"/>
                </a:solidFill>
                <a:latin typeface="Aptos"/>
              </a:defRPr>
            </a:pPr>
            <a:r>
              <a:t>SIMULATE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4568" y="2450591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FFFFF"/>
                </a:solidFill>
                <a:latin typeface="Aptos"/>
              </a:defRPr>
            </a:pPr>
            <a:r>
              <a:t>Choose one of five scheduling policies</a:t>
            </a:r>
          </a:p>
          <a:p>
            <a:pPr>
              <a:defRPr sz="1300" b="0">
                <a:solidFill>
                  <a:srgbClr val="FFFFFF"/>
                </a:solidFill>
                <a:latin typeface="Aptos"/>
              </a:defRPr>
            </a:pPr>
            <a:r>
              <a:t>Run a greedy selection process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737360"/>
            <a:ext cx="3474720" cy="19202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47888" y="1901952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5EEAD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47888" y="2450591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FFFFF"/>
                </a:solidFill>
                <a:latin typeface="Aptos"/>
              </a:defRPr>
            </a:pPr>
            <a:r>
              <a:t>Gantt chart</a:t>
            </a:r>
          </a:p>
          <a:p>
            <a:pPr>
              <a:defRPr sz="1300" b="0">
                <a:solidFill>
                  <a:srgbClr val="FFFFFF"/>
                </a:solidFill>
                <a:latin typeface="Aptos"/>
              </a:defRPr>
            </a:pPr>
            <a:r>
              <a:t>Timing metrics</a:t>
            </a:r>
          </a:p>
          <a:p>
            <a:pPr>
              <a:defRPr sz="1300" b="0">
                <a:solidFill>
                  <a:srgbClr val="FFFFFF"/>
                </a:solidFill>
                <a:latin typeface="Aptos"/>
              </a:defRPr>
            </a:pPr>
            <a:r>
              <a:t>Decision log and comparison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5720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"/>
              </a:defRPr>
            </a:pPr>
            <a:r>
              <a:t>Purpose: make scheduling behaviour and trade-offs easier to understand.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"/>
              </a:defRPr>
            </a:pPr>
            <a:r>
              <a:t>Problem &amp;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1051560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1430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CBD5E1"/>
                </a:solidFill>
                <a:latin typeface="Aptos"/>
              </a:defRPr>
            </a:pPr>
            <a:r>
              <a:t>Why this project is useful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•  CPU time must be allocated among processes that arrive at different times.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•  Different policies optimise different goals: waiting time, responsiveness, or priority.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•  Show each process's completion, turnaround, waiting and response time.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•  Compare average metrics and CPU utilisation using editable or sample inputs.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"/>
              </a:defRPr>
            </a:pPr>
            <a:r>
              <a:t>Scheduling Policies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1051560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1430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CBD5E1"/>
                </a:solidFill>
                <a:latin typeface="Aptos"/>
              </a:defRPr>
            </a:pPr>
            <a:r>
              <a:t>The five options implemented in the JavaScript frontend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3474720" cy="14173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810512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5EEAD4"/>
                </a:solidFill>
                <a:latin typeface="Aptos"/>
              </a:defRPr>
            </a:pPr>
            <a:r>
              <a:t>FCFS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359152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FFFFF"/>
                </a:solidFill>
                <a:latin typeface="Aptos"/>
              </a:defRPr>
            </a:pPr>
            <a:r>
              <a:t>Earliest arrival first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645920"/>
            <a:ext cx="3474720" cy="14173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81728" y="1810512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5EEAD4"/>
                </a:solidFill>
                <a:latin typeface="Aptos"/>
              </a:defRPr>
            </a:pPr>
            <a:r>
              <a:t>SJF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1728" y="2359152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FFFFF"/>
                </a:solidFill>
                <a:latin typeface="Aptos"/>
              </a:defRPr>
            </a:pPr>
            <a:r>
              <a:t>Shortest burst among ready processes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645920"/>
            <a:ext cx="3474720" cy="14173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76488" y="1810512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5EEAD4"/>
                </a:solidFill>
                <a:latin typeface="Aptos"/>
              </a:defRPr>
            </a:pPr>
            <a:r>
              <a:t>SRTF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6488" y="2359152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FFFFF"/>
                </a:solidFill>
                <a:latin typeface="Aptos"/>
              </a:defRPr>
            </a:pPr>
            <a:r>
              <a:t>Least remaining time; preemptive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520439"/>
            <a:ext cx="3474720" cy="14173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3685031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5EEAD4"/>
                </a:solidFill>
                <a:latin typeface="Aptos"/>
              </a:defRPr>
            </a:pPr>
            <a:r>
              <a:t>Priority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4233672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FFFFF"/>
                </a:solidFill>
                <a:latin typeface="Aptos"/>
              </a:defRPr>
            </a:pPr>
            <a:r>
              <a:t>Lowest numeric priority first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60" y="3520439"/>
            <a:ext cx="3474720" cy="14173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81728" y="3685031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5EEAD4"/>
                </a:solidFill>
                <a:latin typeface="Aptos"/>
              </a:defRPr>
            </a:pPr>
            <a:r>
              <a:t>Preemptive Priority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81728" y="4233672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FFFFF"/>
                </a:solidFill>
                <a:latin typeface="Aptos"/>
              </a:defRPr>
            </a:pPr>
            <a:r>
              <a:t>Higher-priority arrival may interrupt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8521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CBD5E1"/>
                </a:solidFill>
                <a:latin typeface="Aptos"/>
              </a:defRPr>
            </a:pPr>
            <a:r>
              <a:t>Tie-breakers include arrival time and process ID.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"/>
              </a:defRPr>
            </a:pPr>
            <a:r>
              <a:t>Algorithm &amp; Data 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1051560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1430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CBD5E1"/>
                </a:solidFill>
                <a:latin typeface="Aptos"/>
              </a:defRPr>
            </a:pPr>
            <a:r>
              <a:t>Greedy selection using a binary min-heap</a:t>
            </a:r>
          </a:p>
        </p:txBody>
      </p:sp>
      <p:sp>
        <p:nvSpPr>
          <p:cNvPr id="5" name="Oval 4"/>
          <p:cNvSpPr/>
          <p:nvPr/>
        </p:nvSpPr>
        <p:spPr>
          <a:xfrm>
            <a:off x="868680" y="1508760"/>
            <a:ext cx="438912" cy="438912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9264" y="1581912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499616"/>
            <a:ext cx="9418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FFFFF"/>
                </a:solidFill>
                <a:latin typeface="Aptos"/>
              </a:defRPr>
            </a:pPr>
            <a:r>
              <a:t>Sort processes by arrival time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350008"/>
            <a:ext cx="438912" cy="438912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242316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340864"/>
            <a:ext cx="9418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FFFFF"/>
                </a:solidFill>
                <a:latin typeface="Aptos"/>
              </a:defRPr>
            </a:pPr>
            <a:r>
              <a:t>Add all arrived processes to the heap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3191256"/>
            <a:ext cx="438912" cy="438912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" y="3264408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82112"/>
            <a:ext cx="9418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FFFFF"/>
                </a:solidFill>
                <a:latin typeface="Aptos"/>
              </a:defRPr>
            </a:pPr>
            <a:r>
              <a:t>Select the process with the smallest policy key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032504"/>
            <a:ext cx="438912" cy="438912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" y="4105656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023360"/>
            <a:ext cx="9418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FFFFF"/>
                </a:solidFill>
                <a:latin typeface="Aptos"/>
              </a:defRPr>
            </a:pPr>
            <a:r>
              <a:t>Run until completion or next arrival (preemptive)</a:t>
            </a:r>
          </a:p>
        </p:txBody>
      </p:sp>
      <p:sp>
        <p:nvSpPr>
          <p:cNvPr id="17" name="Oval 16"/>
          <p:cNvSpPr/>
          <p:nvPr/>
        </p:nvSpPr>
        <p:spPr>
          <a:xfrm>
            <a:off x="868680" y="4873752"/>
            <a:ext cx="438912" cy="438912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" y="4946904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864608"/>
            <a:ext cx="9418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FFFFF"/>
                </a:solidFill>
                <a:latin typeface="Aptos"/>
              </a:defRPr>
            </a:pPr>
            <a:r>
              <a:t>Update remaining time, timeline and metrics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9436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5EEAD4"/>
                </a:solidFill>
                <a:latin typeface="Aptos"/>
              </a:defRPr>
            </a:pPr>
            <a:r>
              <a:t>Heap operations: O(log n) each  |  Core scheduler: O(n log n) time  |  O(n) space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"/>
              </a:defRPr>
            </a:pPr>
            <a:r>
              <a:t>Implementation &amp; Technology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1051560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1430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CBD5E1"/>
                </a:solidFill>
                <a:latin typeface="Aptos"/>
              </a:defRPr>
            </a:pPr>
            <a:r>
              <a:t>How the uploaded source is organised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3520440" cy="29260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810512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5EEAD4"/>
                </a:solidFill>
                <a:latin typeface="Aptos"/>
              </a:defRPr>
            </a:pPr>
            <a:r>
              <a:t>HTML / CSS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359152"/>
            <a:ext cx="31546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FFFFF"/>
                </a:solidFill>
                <a:latin typeface="Aptos"/>
              </a:defRPr>
            </a:pPr>
            <a:r>
              <a:t>Responsive page layout</a:t>
            </a:r>
          </a:p>
          <a:p>
            <a:pPr>
              <a:defRPr sz="1300" b="0">
                <a:solidFill>
                  <a:srgbClr val="FFFFFF"/>
                </a:solidFill>
                <a:latin typeface="Aptos"/>
              </a:defRPr>
            </a:pPr>
            <a:r>
              <a:t>Process editor and tabs</a:t>
            </a:r>
          </a:p>
          <a:p>
            <a:pPr>
              <a:defRPr sz="1300" b="0">
                <a:solidFill>
                  <a:srgbClr val="FFFFFF"/>
                </a:solidFill>
                <a:latin typeface="Aptos"/>
              </a:defRPr>
            </a:pPr>
            <a:r>
              <a:t>Gantt chart and metric cards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45920"/>
            <a:ext cx="3520440" cy="29260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44568" y="1810512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5EEAD4"/>
                </a:solidFill>
                <a:latin typeface="Aptos"/>
              </a:defRPr>
            </a:pPr>
            <a:r>
              <a:t>JavaScript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4568" y="2359152"/>
            <a:ext cx="31546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FFFFF"/>
                </a:solidFill>
                <a:latin typeface="Aptos"/>
              </a:defRPr>
            </a:pPr>
            <a:r>
              <a:t>MinHeap class</a:t>
            </a:r>
          </a:p>
          <a:p>
            <a:pPr>
              <a:defRPr sz="1300" b="0">
                <a:solidFill>
                  <a:srgbClr val="FFFFFF"/>
                </a:solidFill>
                <a:latin typeface="Aptos"/>
              </a:defRPr>
            </a:pPr>
            <a:r>
              <a:t>schedule() simulation</a:t>
            </a:r>
          </a:p>
          <a:p>
            <a:pPr>
              <a:defRPr sz="1300" b="0">
                <a:solidFill>
                  <a:srgbClr val="FFFFFF"/>
                </a:solidFill>
                <a:latin typeface="Aptos"/>
              </a:defRPr>
            </a:pPr>
            <a:r>
              <a:t>Validation, samples and comparison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520440" cy="29260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47888" y="1810512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5EEAD4"/>
                </a:solidFill>
                <a:latin typeface="Aptos"/>
              </a:defRPr>
            </a:pPr>
            <a:r>
              <a:t>Python / Flask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47888" y="2359152"/>
            <a:ext cx="31546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FFFFF"/>
                </a:solidFill>
                <a:latin typeface="Aptos"/>
              </a:defRPr>
            </a:pPr>
            <a:r>
              <a:t>Serves the frontend at '/'</a:t>
            </a:r>
          </a:p>
          <a:p>
            <a:pPr>
              <a:defRPr sz="1300" b="0">
                <a:solidFill>
                  <a:srgbClr val="FFFFFF"/>
                </a:solidFill>
                <a:latin typeface="Aptos"/>
              </a:defRPr>
            </a:pPr>
            <a:r>
              <a:t>POST /api/simulate</a:t>
            </a:r>
          </a:p>
          <a:p>
            <a:pPr>
              <a:defRPr sz="1300" b="0">
                <a:solidFill>
                  <a:srgbClr val="FFFFFF"/>
                </a:solidFill>
                <a:latin typeface="Aptos"/>
              </a:defRPr>
            </a:pPr>
            <a:r>
              <a:t>POST /api/compare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07492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DE68A"/>
                </a:solidFill>
                <a:latin typeface="Aptos"/>
              </a:defRPr>
            </a:pPr>
            <a:r>
              <a:t>Implementation note: the two Flask API handlers are placeholders; scheduling currently runs in the browser.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"/>
              </a:defRPr>
            </a:pPr>
            <a:r>
              <a:t>Example Result: SRTF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1051560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1430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CBD5E1"/>
                </a:solidFill>
                <a:latin typeface="Aptos"/>
              </a:defRPr>
            </a:pPr>
            <a:r>
              <a:t>Classic sample: P1(0,8), P2(1,4), P3(2,9), P4(3,5), P5(4,2)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286000"/>
            <a:ext cx="382088" cy="731520"/>
          </a:xfrm>
          <a:prstGeom prst="rect">
            <a:avLst/>
          </a:prstGeom>
          <a:solidFill>
            <a:srgbClr val="4C78A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382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P1</a:t>
            </a:r>
          </a:p>
        </p:txBody>
      </p:sp>
      <p:sp>
        <p:nvSpPr>
          <p:cNvPr id="7" name="Rectangle 6"/>
          <p:cNvSpPr/>
          <p:nvPr/>
        </p:nvSpPr>
        <p:spPr>
          <a:xfrm>
            <a:off x="1113608" y="2286000"/>
            <a:ext cx="1528354" cy="731520"/>
          </a:xfrm>
          <a:prstGeom prst="rect">
            <a:avLst/>
          </a:prstGeom>
          <a:solidFill>
            <a:srgbClr val="E08A1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3608" y="2468880"/>
            <a:ext cx="152835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P2</a:t>
            </a:r>
          </a:p>
        </p:txBody>
      </p:sp>
      <p:sp>
        <p:nvSpPr>
          <p:cNvPr id="9" name="Rectangle 8"/>
          <p:cNvSpPr/>
          <p:nvPr/>
        </p:nvSpPr>
        <p:spPr>
          <a:xfrm>
            <a:off x="2641962" y="2286000"/>
            <a:ext cx="764177" cy="731520"/>
          </a:xfrm>
          <a:prstGeom prst="rect">
            <a:avLst/>
          </a:prstGeom>
          <a:solidFill>
            <a:srgbClr val="5BA8A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41962" y="2468880"/>
            <a:ext cx="76417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P5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06139" y="2286000"/>
            <a:ext cx="1910442" cy="731520"/>
          </a:xfrm>
          <a:prstGeom prst="rect">
            <a:avLst/>
          </a:prstGeom>
          <a:solidFill>
            <a:srgbClr val="D6504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06139" y="2468880"/>
            <a:ext cx="191044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P4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16582" y="2286000"/>
            <a:ext cx="2674620" cy="731520"/>
          </a:xfrm>
          <a:prstGeom prst="rect">
            <a:avLst/>
          </a:prstGeom>
          <a:solidFill>
            <a:srgbClr val="4C78A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16582" y="2468880"/>
            <a:ext cx="26746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P1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91202" y="2286000"/>
            <a:ext cx="3438797" cy="731520"/>
          </a:xfrm>
          <a:prstGeom prst="rect">
            <a:avLst/>
          </a:prstGeom>
          <a:solidFill>
            <a:srgbClr val="3E9B5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91202" y="2468880"/>
            <a:ext cx="343879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P3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312724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CBD5E1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3880" y="312724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CBD5E1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32234" y="312724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CBD5E1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6411" y="312724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CBD5E1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06854" y="312724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CBD5E1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81474" y="312724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CBD5E1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20272" y="312724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CBD5E1"/>
                </a:solidFill>
                <a:latin typeface="Aptos"/>
              </a:defRPr>
            </a:pPr>
            <a:r>
              <a:t>28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3886200"/>
            <a:ext cx="3291840" cy="1234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8408" y="4050791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5EEAD4"/>
                </a:solidFill>
                <a:latin typeface="Aptos"/>
              </a:defRPr>
            </a:pPr>
            <a:r>
              <a:t>Avg waiting time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" y="4599432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FFFFF"/>
                </a:solidFill>
                <a:latin typeface="Aptos"/>
              </a:defRPr>
            </a:pPr>
            <a:r>
              <a:t>6.60 time units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34840" y="3886200"/>
            <a:ext cx="3291840" cy="1234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36007" y="4050791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5EEAD4"/>
                </a:solidFill>
                <a:latin typeface="Aptos"/>
              </a:defRPr>
            </a:pPr>
            <a:r>
              <a:t>Avg turnaround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36007" y="4599432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FFFFF"/>
                </a:solidFill>
                <a:latin typeface="Aptos"/>
              </a:defRPr>
            </a:pPr>
            <a:r>
              <a:t>12.20 time units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2440" y="3886200"/>
            <a:ext cx="3291840" cy="1234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93608" y="4050791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5EEAD4"/>
                </a:solidFill>
                <a:latin typeface="Aptos"/>
              </a:defRPr>
            </a:pPr>
            <a:r>
              <a:t>CPU utilisation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93608" y="4599432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FFFFF"/>
                </a:solidFill>
                <a:latin typeface="Aptos"/>
              </a:defRPr>
            </a:pPr>
            <a:r>
              <a:t>100%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57150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94A3B8"/>
                </a:solidFill>
                <a:latin typeface="Aptos"/>
              </a:defRPr>
            </a:pPr>
            <a:r>
              <a:t>Illustrative output calculated from the policy rules in the supplied source.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"/>
              </a:defRPr>
            </a:pPr>
            <a:r>
              <a:t>Performance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1051560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1430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CBD5E1"/>
                </a:solidFill>
                <a:latin typeface="Aptos"/>
              </a:defRPr>
            </a:pPr>
            <a:r>
              <a:t>Classic five-process sample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45920"/>
          <a:ext cx="1092708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5416"/>
                <a:gridCol w="2185416"/>
                <a:gridCol w="2185416"/>
                <a:gridCol w="2185416"/>
                <a:gridCol w="2185416"/>
              </a:tblGrid>
              <a:tr h="5791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Algorithm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Avg waiting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Avg turnaround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Avg response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CPU util.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FCFS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11.40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17.00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11.40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SJF (non-preemptive)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8.20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13.80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8.20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SRTF (preemptive SJF)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6.60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12.20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4.40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Priority (non-preemptive)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10.60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16.20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10.60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Priority (preemptive)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9.60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15.20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7.80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54864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5EEAD4"/>
                </a:solidFill>
                <a:latin typeface="Aptos"/>
              </a:defRPr>
            </a:pPr>
            <a:r>
              <a:t>For this input, SRTF gives the lowest average waiting time among the five policies.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"/>
              </a:defRPr>
            </a:pPr>
            <a:r>
              <a:t>Testing &amp; Validation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1051560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1430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CBD5E1"/>
                </a:solidFill>
                <a:latin typeface="Aptos"/>
              </a:defRPr>
            </a:pPr>
            <a:r>
              <a:t>Test cases included in the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•  Classic five-process sample for comparing policies.</a:t>
            </a:r>
          </a:p>
          <a:p>
            <a:pPr>
              <a:spcAft>
                <a:spcPts val="14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•  All processes arrive at time zero to compare selection order.</a:t>
            </a:r>
          </a:p>
          <a:p>
            <a:pPr>
              <a:spcAft>
                <a:spcPts val="14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•  Idle-gap sample to check CPU idle timeline handling.</a:t>
            </a:r>
          </a:p>
          <a:p>
            <a:pPr>
              <a:spcAft>
                <a:spcPts val="14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•  Validation: unique PIDs, integer values, arrival ≥ 0 and burst ≥ 1.</a:t>
            </a:r>
          </a:p>
          <a:p>
            <a:pPr>
              <a:spcAft>
                <a:spcPts val="14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•  Random-set generator and add/remove process controls.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"/>
              </a:defRPr>
            </a:pPr>
            <a:r>
              <a:t>Limitations &amp; Future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1051560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1430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CBD5E1"/>
                </a:solidFill>
                <a:latin typeface="Aptos"/>
              </a:defRPr>
            </a:pPr>
            <a:r>
              <a:t>What can be improved next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029200" cy="33832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856232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5EEAD4"/>
                </a:solidFill>
                <a:latin typeface="Aptos"/>
              </a:defRPr>
            </a:pPr>
            <a:r>
              <a:t>Current 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404872"/>
            <a:ext cx="4663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FFFFF"/>
                </a:solidFill>
                <a:latin typeface="Aptos"/>
              </a:defRPr>
            </a:pPr>
            <a:r>
              <a:t>Flask API endpoints are placeholders.</a:t>
            </a:r>
          </a:p>
          <a:p>
            <a:pPr>
              <a:defRPr sz="1300" b="0">
                <a:solidFill>
                  <a:srgbClr val="FFFFFF"/>
                </a:solidFill>
                <a:latin typeface="Aptos"/>
              </a:defRPr>
            </a:pPr>
            <a:r>
              <a:t>No automated test suite supplied.</a:t>
            </a:r>
          </a:p>
          <a:p>
            <a:pPr>
              <a:defRPr sz="1300" b="0">
                <a:solidFill>
                  <a:srgbClr val="FFFFFF"/>
                </a:solidFill>
                <a:latin typeface="Aptos"/>
              </a:defRPr>
            </a:pPr>
            <a:r>
              <a:t>No screenshots or deployment details supplied.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91640"/>
            <a:ext cx="5029200" cy="33832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19088" y="1856232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5EEAD4"/>
                </a:solidFill>
                <a:latin typeface="Aptos"/>
              </a:defRPr>
            </a:pPr>
            <a:r>
              <a:t>Future improvements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088" y="2404872"/>
            <a:ext cx="4663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FFFFF"/>
                </a:solidFill>
                <a:latin typeface="Aptos"/>
              </a:defRPr>
            </a:pPr>
            <a:r>
              <a:t>Implement backend simulation APIs.</a:t>
            </a:r>
          </a:p>
          <a:p>
            <a:pPr>
              <a:defRPr sz="1300" b="0">
                <a:solidFill>
                  <a:srgbClr val="FFFFFF"/>
                </a:solidFill>
                <a:latin typeface="Aptos"/>
              </a:defRPr>
            </a:pPr>
            <a:r>
              <a:t>Add unit tests and edge-case coverage.</a:t>
            </a:r>
          </a:p>
          <a:p>
            <a:pPr>
              <a:defRPr sz="1300" b="0">
                <a:solidFill>
                  <a:srgbClr val="FFFFFF"/>
                </a:solidFill>
                <a:latin typeface="Aptos"/>
              </a:defRPr>
            </a:pPr>
            <a:r>
              <a:t>Add priority aging to reduce starvation.</a:t>
            </a:r>
          </a:p>
          <a:p>
            <a:pPr>
              <a:defRPr sz="1300" b="0">
                <a:solidFill>
                  <a:srgbClr val="FFFFFF"/>
                </a:solidFill>
                <a:latin typeface="Aptos"/>
              </a:defRPr>
            </a:pPr>
            <a:r>
              <a:t>Export results and add step playback.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1051560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1430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CBD5E1"/>
                </a:solidFill>
                <a:latin typeface="Aptos"/>
              </a:defRPr>
            </a:pPr>
            <a: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•  An interactive simulator demonstrates five common CPU scheduling policies.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•  The min-heap supports efficient selection of the next ready process.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•  Gantt charts and timing metrics make policy trade-offs easy to compare.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•  With a completed API layer and automated tests, the project can be made more robust.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8064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94A3B8"/>
                </a:solidFill>
                <a:latin typeface="Aptos"/>
              </a:defRPr>
            </a:pPr>
            <a:r>
              <a:t>References: Silberschatz et al., Operating System Concepts; Flask Documentation; MDN JavaScript Guide.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